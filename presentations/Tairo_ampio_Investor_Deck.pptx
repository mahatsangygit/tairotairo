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/>
    <p:restoredTop sz="94613"/>
  </p:normalViewPr>
  <p:slideViewPr>
    <p:cSldViewPr snapToGrid="0" snapToObjects="1">
      <p:cViewPr varScale="1">
        <p:scale>
          <a:sx n="96" d="100"/>
          <a:sy n="96" d="100"/>
        </p:scale>
        <p:origin x="9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Rôles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Clients</c:v>
                </c:pt>
                <c:pt idx="1">
                  <c:v>Prestataires</c:v>
                </c:pt>
                <c:pt idx="2">
                  <c:v>Admin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40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6B-0346-8DFA-D511BA8653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Tunnel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Confirmé</c:v>
                </c:pt>
                <c:pt idx="1">
                  <c:v>Payé (séquestre)</c:v>
                </c:pt>
                <c:pt idx="2">
                  <c:v>En cours</c:v>
                </c:pt>
                <c:pt idx="3">
                  <c:v>Terminé</c:v>
                </c:pt>
                <c:pt idx="4">
                  <c:v>Validé / libéré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85</c:v>
                </c:pt>
                <c:pt idx="2">
                  <c:v>80</c:v>
                </c:pt>
                <c:pt idx="3">
                  <c:v>75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13-4440-8D0F-BCE23538E3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4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69494"/>
                </a:solidFill>
                <a:latin typeface="Calibri"/>
              </a:rPr>
              <a:t>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Tairo ampio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AD0C9"/>
                </a:solidFill>
                <a:latin typeface="Calibri"/>
              </a:rPr>
              <a:t>Marketplace de services à Madagascar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Présentation produit  ·  État actuel  ·  Process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FAD0C9"/>
                </a:solidFill>
                <a:latin typeface="Calibri"/>
              </a:rPr>
              <a:t>Deck investisseurs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AD0C9"/>
                </a:solidFill>
                <a:latin typeface="Calibri"/>
              </a:rPr>
              <a:t>TairoTairo  ·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080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AD0C9"/>
                </a:solidFill>
                <a:latin typeface="Calibri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9494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5 blocs pour comprendre Tairo ampio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9494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Problème &amp; opportunité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029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64748B"/>
                </a:solidFill>
                <a:latin typeface="Calibri"/>
              </a:rPr>
              <a:t>03 –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517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9494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834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Produit &amp; rôles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8529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64748B"/>
                </a:solidFill>
                <a:latin typeface="Calibri"/>
              </a:rPr>
              <a:t>06 – 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747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9494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Process &amp; paiements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675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64748B"/>
                </a:solidFill>
                <a:latin typeface="Calibri"/>
              </a:rPr>
              <a:t>08 –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9768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9494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Business &amp; SWOT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498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64748B"/>
                </a:solidFill>
                <a:latin typeface="Calibri"/>
              </a:rPr>
              <a:t>11 – 13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206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9494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303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Next &amp; call to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3218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64748B"/>
                </a:solidFill>
                <a:latin typeface="Calibri"/>
              </a:rPr>
              <a:t>14 –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537960"/>
            <a:ext cx="10881360" cy="1905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Tairo ampio  ·  Confidentiel investisseurs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83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9494"/>
                </a:solidFill>
                <a:latin typeface="Calibri"/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Le problème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Le marché local des services reste fragmenté et peu fiable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9728" cy="178308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Fragmentation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Annonces Facebook, bouche-à-oreille, pas de place unique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920240"/>
            <a:ext cx="109728" cy="1783080"/>
          </a:xfrm>
          <a:prstGeom prst="rect">
            <a:avLst/>
          </a:prstGeom>
          <a:solidFill>
            <a:srgbClr val="FAD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2286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Confiance faible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34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Pas de KYC, pas de preuve de qualité, litiges fréquents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109728" cy="178308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Paiement hors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Cash / Mobile Money direct → zéro protection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93192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931920"/>
            <a:ext cx="109728" cy="1783080"/>
          </a:xfrm>
          <a:prstGeom prst="rect">
            <a:avLst/>
          </a:prstGeom>
          <a:solidFill>
            <a:srgbClr val="FAD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42976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Pas de traçabilité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8463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Pas d'avis liés à une prestation réellement payée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537960"/>
            <a:ext cx="10881360" cy="1905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Tairo ampio  ·  Confidentiel investisseurs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83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9494"/>
                </a:solidFill>
                <a:latin typeface="Calibri"/>
              </a:rPr>
              <a:t>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La solution Tairo ampio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Une marketplace sécurisée, de bout en bout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6974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9494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Marketplace 2 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Annonces prestataires + demandes clients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011680"/>
            <a:ext cx="26974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9494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0175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Paiement séquestre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Fonds bloqués jusqu'à validation 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11680"/>
            <a:ext cx="26974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9494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175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KYC prestataires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Identité vérifiée avant d'opérer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011680"/>
            <a:ext cx="26974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60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9494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0175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Avis crédibles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Notes liées aux paiements in-app uniquement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537960"/>
            <a:ext cx="10881360" cy="1905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Tairo ampio  ·  Confidentiel investisseurs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83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9494"/>
                </a:solidFill>
                <a:latin typeface="Calibri"/>
              </a:rPr>
              <a:t>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Pourquoi maintenant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Trois vents favorables à Madagascar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6118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3611880" cy="109728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Mobile Money mature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Orange Money · MVola · Airtel Money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64748B"/>
                </a:solidFill>
                <a:latin typeface="Calibri"/>
              </a:rPr>
              <a:t>Rails de paiement déjà massifs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03120"/>
            <a:ext cx="36118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103120"/>
            <a:ext cx="3611880" cy="109728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5603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Demande urbaine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4747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Services du quotidien en forte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64748B"/>
                </a:solidFill>
                <a:latin typeface="Calibri"/>
              </a:rPr>
              <a:t>demande (Tana &amp; grandes villes)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6118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611880" cy="109728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5603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Gap trust &amp; escrow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4747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Aucun acteur local n'offre encore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64748B"/>
                </a:solidFill>
                <a:latin typeface="Calibri"/>
              </a:rPr>
              <a:t>un séquestre + KYC + avis liés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537960"/>
            <a:ext cx="10881360" cy="1905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Tairo ampio  ·  Confidentiel investisseurs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83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9494"/>
                </a:solidFill>
                <a:latin typeface="Calibri"/>
              </a:rPr>
              <a:t>PRODUIT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Produit en un regard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3 rôles · 14 catégories · web responsive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6692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9728" cy="118872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9494"/>
                </a:solidFill>
                <a:latin typeface="Calibri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Réserver, demander, payer, noter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56692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109728" cy="118872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9494"/>
                </a:solidFill>
                <a:latin typeface="Calibri"/>
              </a:rPr>
              <a:t>PRESTATAIRE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Annoncer, proposer, exécuter, encaisser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56692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4572000"/>
            <a:ext cx="109728" cy="118872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800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9494"/>
                </a:solidFill>
                <a:latin typeface="Calibri"/>
              </a:rPr>
              <a:t>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KYC, modération, stats, spotlight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675120" y="1920240"/>
          <a:ext cx="48463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675120" y="5989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Répartition cible des rôles (illustratif)  ·  Source : modèle produit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537960"/>
            <a:ext cx="10881360" cy="1905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Tairo ampio  ·  Confidentiel investisseurs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83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9494"/>
                </a:solidFill>
                <a:latin typeface="Calibri"/>
              </a:rPr>
              <a:t>ÉTAT PRODUIT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Ce qui est live aujourd'hui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MVP feature-complete — prêt pour l'intégration Mobile Money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9494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Auth &amp; sécurité (JWT, OTP, CSRF)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17720" y="2194560"/>
            <a:ext cx="320040" cy="320040"/>
          </a:xfrm>
          <a:prstGeom prst="ellipse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9494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194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Annonces &amp; demandes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2024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0" y="2194560"/>
            <a:ext cx="320040" cy="320040"/>
          </a:xfrm>
          <a:prstGeom prst="ellipse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9494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94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Réservations &amp; planning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718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2960" y="3246120"/>
            <a:ext cx="320040" cy="320040"/>
          </a:xfrm>
          <a:prstGeom prst="ellipse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2461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9494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Messagerie temps réel + négo prix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9718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617720" y="3246120"/>
            <a:ext cx="320040" cy="320040"/>
          </a:xfrm>
          <a:prstGeom prst="ellipse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32461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9494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Escrow (séquestre) in-app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9718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12480" y="3246120"/>
            <a:ext cx="320040" cy="320040"/>
          </a:xfrm>
          <a:prstGeom prst="ellipse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32461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9494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KYC prestataires (admin)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02336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2960" y="4297680"/>
            <a:ext cx="320040" cy="320040"/>
          </a:xfrm>
          <a:prstGeom prst="ellipse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4297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9494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297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Avis liés aux paiements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402336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617720" y="4297680"/>
            <a:ext cx="320040" cy="320040"/>
          </a:xfrm>
          <a:prstGeom prst="ellipse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17720" y="4297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9494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297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Notifications (in-app, email, push)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402336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412480" y="4297680"/>
            <a:ext cx="320040" cy="320040"/>
          </a:xfrm>
          <a:prstGeom prst="ellipse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12480" y="4297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9494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297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Portfolio prestataire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074919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22960" y="5349239"/>
            <a:ext cx="320040" cy="320040"/>
          </a:xfrm>
          <a:prstGeom prst="ellipse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60" y="534923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9494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53492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Abonnements &amp; spotlight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34840" y="5074919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617720" y="5349239"/>
            <a:ext cx="320040" cy="320040"/>
          </a:xfrm>
          <a:prstGeom prst="ellipse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17720" y="534923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9494"/>
                </a:solidFill>
                <a:latin typeface="Calibr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53492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Facture PDF auto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5074919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412480" y="5349239"/>
            <a:ext cx="320040" cy="320040"/>
          </a:xfrm>
          <a:prstGeom prst="ellipse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412480" y="534923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9494"/>
                </a:solidFill>
                <a:latin typeface="Calibr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3492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Dashboard admin &amp; exports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6537960"/>
            <a:ext cx="10881360" cy="1905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Tairo ampio  ·  Confidentiel investisseurs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583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9494"/>
                </a:solidFill>
                <a:latin typeface="Calibri"/>
              </a:rPr>
              <a:t>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Parcours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De la découverte à l'avis — en 6 étapes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286000"/>
            <a:ext cx="640080" cy="640080"/>
          </a:xfrm>
          <a:prstGeom prst="ellipse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560320"/>
            <a:ext cx="1005840" cy="3810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Découvrir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Services ou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demande</a:t>
            </a:r>
          </a:p>
        </p:txBody>
      </p:sp>
      <p:sp>
        <p:nvSpPr>
          <p:cNvPr id="12" name="Oval 11"/>
          <p:cNvSpPr/>
          <p:nvPr/>
        </p:nvSpPr>
        <p:spPr>
          <a:xfrm>
            <a:off x="2971800" y="2286000"/>
            <a:ext cx="640080" cy="640080"/>
          </a:xfrm>
          <a:prstGeom prst="ellipse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2560320"/>
            <a:ext cx="1005840" cy="3810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8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Réserver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657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Service ou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proposition</a:t>
            </a:r>
          </a:p>
        </p:txBody>
      </p:sp>
      <p:sp>
        <p:nvSpPr>
          <p:cNvPr id="17" name="Oval 16"/>
          <p:cNvSpPr/>
          <p:nvPr/>
        </p:nvSpPr>
        <p:spPr>
          <a:xfrm>
            <a:off x="4937760" y="2286000"/>
            <a:ext cx="640080" cy="640080"/>
          </a:xfrm>
          <a:prstGeom prst="ellipse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2560320"/>
            <a:ext cx="1005840" cy="3810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Payer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657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Séquestre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Mobile Money</a:t>
            </a:r>
          </a:p>
        </p:txBody>
      </p:sp>
      <p:sp>
        <p:nvSpPr>
          <p:cNvPr id="22" name="Oval 21"/>
          <p:cNvSpPr/>
          <p:nvPr/>
        </p:nvSpPr>
        <p:spPr>
          <a:xfrm>
            <a:off x="6903719" y="2286000"/>
            <a:ext cx="640080" cy="640080"/>
          </a:xfrm>
          <a:prstGeom prst="ellipse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19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59" y="2560320"/>
            <a:ext cx="1005840" cy="3810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799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Recevoir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9" y="3657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Prestation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en cours</a:t>
            </a:r>
          </a:p>
        </p:txBody>
      </p:sp>
      <p:sp>
        <p:nvSpPr>
          <p:cNvPr id="27" name="Oval 26"/>
          <p:cNvSpPr/>
          <p:nvPr/>
        </p:nvSpPr>
        <p:spPr>
          <a:xfrm>
            <a:off x="8869680" y="2286000"/>
            <a:ext cx="640080" cy="640080"/>
          </a:xfrm>
          <a:prstGeom prst="ellipse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2560320"/>
            <a:ext cx="1005840" cy="3810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Valider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657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Libération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des fonds</a:t>
            </a:r>
          </a:p>
        </p:txBody>
      </p:sp>
      <p:sp>
        <p:nvSpPr>
          <p:cNvPr id="32" name="Oval 31"/>
          <p:cNvSpPr/>
          <p:nvPr/>
        </p:nvSpPr>
        <p:spPr>
          <a:xfrm>
            <a:off x="10835640" y="2286000"/>
            <a:ext cx="640080" cy="640080"/>
          </a:xfrm>
          <a:prstGeom prst="ellipse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83564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Noter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657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Avis + facture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PDF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937760"/>
            <a:ext cx="10881360" cy="1097280"/>
          </a:xfrm>
          <a:prstGeom prst="roundRect">
            <a:avLst>
              <a:gd name="adj" fmla="val 8000"/>
            </a:avLst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9494"/>
                </a:solidFill>
                <a:latin typeface="Calibri"/>
              </a:rPr>
              <a:t>Deux chemins d'entrée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Calibri"/>
              </a:rPr>
              <a:t>A · Réserver une annonce   ·   B · Publier une demande et accepter une proposition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537960"/>
            <a:ext cx="10881360" cy="1905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Tairo ampio  ·  Confidentiel investisseurs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583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9494"/>
                </a:solidFill>
                <a:latin typeface="Calibri"/>
              </a:rPr>
              <a:t>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Parcours prestataire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KYC d'abord — puis activité et encaissement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286000"/>
            <a:ext cx="640080" cy="640080"/>
          </a:xfrm>
          <a:prstGeom prst="ellipse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560320"/>
            <a:ext cx="1005840" cy="3810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S'inscrire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Compte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prestataire</a:t>
            </a:r>
          </a:p>
        </p:txBody>
      </p:sp>
      <p:sp>
        <p:nvSpPr>
          <p:cNvPr id="12" name="Oval 11"/>
          <p:cNvSpPr/>
          <p:nvPr/>
        </p:nvSpPr>
        <p:spPr>
          <a:xfrm>
            <a:off x="2971800" y="2286000"/>
            <a:ext cx="640080" cy="6400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2560320"/>
            <a:ext cx="1005840" cy="3810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8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KYC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657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CIN →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validation admin</a:t>
            </a:r>
          </a:p>
        </p:txBody>
      </p:sp>
      <p:sp>
        <p:nvSpPr>
          <p:cNvPr id="17" name="Oval 16"/>
          <p:cNvSpPr/>
          <p:nvPr/>
        </p:nvSpPr>
        <p:spPr>
          <a:xfrm>
            <a:off x="4937760" y="2286000"/>
            <a:ext cx="640080" cy="640080"/>
          </a:xfrm>
          <a:prstGeom prst="ellipse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2560320"/>
            <a:ext cx="1005840" cy="3810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Publier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657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Annonces &amp;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propositions</a:t>
            </a:r>
          </a:p>
        </p:txBody>
      </p:sp>
      <p:sp>
        <p:nvSpPr>
          <p:cNvPr id="22" name="Oval 21"/>
          <p:cNvSpPr/>
          <p:nvPr/>
        </p:nvSpPr>
        <p:spPr>
          <a:xfrm>
            <a:off x="6903719" y="2286000"/>
            <a:ext cx="640080" cy="640080"/>
          </a:xfrm>
          <a:prstGeom prst="ellipse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19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59" y="2560320"/>
            <a:ext cx="1005840" cy="3810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799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Exécuter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9" y="3657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Démarrer →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marquer terminé</a:t>
            </a:r>
          </a:p>
        </p:txBody>
      </p:sp>
      <p:sp>
        <p:nvSpPr>
          <p:cNvPr id="27" name="Oval 26"/>
          <p:cNvSpPr/>
          <p:nvPr/>
        </p:nvSpPr>
        <p:spPr>
          <a:xfrm>
            <a:off x="8869680" y="2286000"/>
            <a:ext cx="640080" cy="640080"/>
          </a:xfrm>
          <a:prstGeom prst="ellipse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2560320"/>
            <a:ext cx="1005840" cy="3810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Encaisser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657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Versement après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validation client</a:t>
            </a:r>
          </a:p>
        </p:txBody>
      </p:sp>
      <p:sp>
        <p:nvSpPr>
          <p:cNvPr id="32" name="Oval 31"/>
          <p:cNvSpPr/>
          <p:nvPr/>
        </p:nvSpPr>
        <p:spPr>
          <a:xfrm>
            <a:off x="10835640" y="2286000"/>
            <a:ext cx="640080" cy="640080"/>
          </a:xfrm>
          <a:prstGeom prst="ellipse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83564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Booster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6576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Abo spotlight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&amp; portfolio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937760"/>
            <a:ext cx="10881360" cy="1097280"/>
          </a:xfrm>
          <a:prstGeom prst="roundRect">
            <a:avLst>
              <a:gd name="adj" fmla="val 8000"/>
            </a:avLst>
          </a:prstGeom>
          <a:solidFill>
            <a:srgbClr val="F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Gate KYC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Calibri"/>
              </a:rPr>
              <a:t>Sans KYC approuvé : pas d'annonces, pas de réponses aux demandes, pas de spotlight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537960"/>
            <a:ext cx="10881360" cy="1905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Tairo ampio  ·  Confidentiel investisseurs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583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9494"/>
                </a:solidFill>
                <a:latin typeface="Calibri"/>
              </a:rPr>
              <a:t>PAIEMENTS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Process paiement (escrow)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Fonds protégés jusqu'à validation — Mobile Money réel = next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828800"/>
          <a:ext cx="6583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2011680"/>
            <a:ext cx="4206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0" y="2011680"/>
            <a:ext cx="109728" cy="109728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9494"/>
                </a:solidFill>
                <a:latin typeface="Calibri"/>
              </a:rPr>
              <a:t>ESCROWED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606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Fonds bloqués Tairo ampio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291840"/>
            <a:ext cx="4206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0" y="3291840"/>
            <a:ext cx="109728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RELEASED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Versement prestataire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572000"/>
            <a:ext cx="4206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0" y="4572000"/>
            <a:ext cx="109728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REFUNDED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Remboursement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Tunnel escrow (illustratif)  ·  Source : workflow produit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537960"/>
            <a:ext cx="10881360" cy="1905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Tairo ampio  ·  Confidentiel investisseurs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83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9494"/>
                </a:solidFill>
                <a:latin typeface="Calibri"/>
              </a:rPr>
              <a:t>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Monétisation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Abonnement + commission 8 % côté prestataire (prévu)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9494"/>
                </a:solidFill>
                <a:latin typeface="Calibri"/>
              </a:rPr>
              <a:t>ABONNEMENT PRESTATAIRE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Calibri"/>
              </a:rPr>
              <a:t>75 000 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/ mois  ·  plan 3 mois −10 %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· Profil mis en avant (accueil)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Calibri"/>
              </a:rPr>
              <a:t>· Suggestions recherche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Calibri"/>
              </a:rPr>
              <a:t>· 1 annonce featured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645920"/>
            <a:ext cx="5394960" cy="73152"/>
          </a:xfrm>
          <a:prstGeom prst="rect">
            <a:avLst/>
          </a:prstGeom>
          <a:solidFill>
            <a:srgbClr val="FAD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87451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9494"/>
                </a:solidFill>
                <a:latin typeface="Calibri"/>
              </a:rPr>
              <a:t>COMMISSION ESCROW — PRÉVU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4028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F172A"/>
                </a:solidFill>
                <a:latin typeface="Calibri"/>
              </a:rPr>
              <a:t>8 %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63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sur chaque prestation validée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56616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37033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Visible uniquement côté prestataire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Calibri"/>
              </a:rPr>
              <a:t>Le client voit le prix final — sans détail de commission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7091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· Prélevé à la libération des fonds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Calibri"/>
              </a:rPr>
              <a:t>· Prestataire reçoit 92 % du montant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Calibri"/>
              </a:rPr>
              <a:t>· Roadmap post-intégration Mobile Money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537960"/>
            <a:ext cx="10881360" cy="1905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64748B"/>
                </a:solidFill>
                <a:latin typeface="Calibri"/>
              </a:rPr>
              <a:t>Tairo</a:t>
            </a:r>
            <a:r>
              <a:rPr sz="1000" b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64748B"/>
                </a:solidFill>
                <a:latin typeface="Calibri"/>
              </a:rPr>
              <a:t>ampio</a:t>
            </a:r>
            <a:endParaRPr sz="1000" b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0" y="6583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9494"/>
                </a:solidFill>
                <a:latin typeface="Calibri"/>
              </a:rPr>
              <a:t>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Stack &amp; opérations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Architecture prête pour un VPS long-lived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9494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Next.js 16 · React 19 · Tailwind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1168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23317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9494"/>
                </a:solidFill>
                <a:latin typeface="Calibr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8346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Route Handlers · Node HTTP custom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23317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9494"/>
                </a:solidFill>
                <a:latin typeface="Calibri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8346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PostgreSQL · Prisma · RLS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4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9494"/>
                </a:solidFill>
                <a:latin typeface="Calibri"/>
              </a:rPr>
              <a:t>Realtime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WebSockets · Redis pub/sub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97764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42976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9494"/>
                </a:solidFill>
                <a:latin typeface="Calibri"/>
              </a:rPr>
              <a:t>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8006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Sharp (WebP) · stockage local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97764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42976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9494"/>
                </a:solidFill>
                <a:latin typeface="Calibri"/>
              </a:rPr>
              <a:t>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006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Docker · healthcheck · cron abo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537960"/>
            <a:ext cx="10881360" cy="1905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Tairo ampio  ·  Confidentiel investisseurs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83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9494"/>
                </a:solidFill>
                <a:latin typeface="Calibri"/>
              </a:rPr>
              <a:t>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Matrice SWOT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Forces, faiblesses, opportunités, menaces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4406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FORCES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·  MVP feature-complete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Escrow + KYC + avis liés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Messagerie + négo prix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Admin ops &amp; exports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Stack moderne &amp; testée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54406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FAIBLESSES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3172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·  Mobile Money non branché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Payouts encore manuels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Stockage fichiers local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Pas d'app native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Traction à prouver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4023360"/>
            <a:ext cx="5440680" cy="73152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9494"/>
                </a:solidFill>
                <a:latin typeface="Calibri"/>
              </a:rPr>
              <a:t>OPPORTUNITÉS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·  Rails MM déjà massifs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Demande services urbains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Take-rate escrow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B2B / entreprises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Expansion villes MG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233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4023360"/>
            <a:ext cx="54406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206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MENACES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7200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·  Groupes Facebook gratuits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Concurrents MM-first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Régulation paiements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Adoption prestataires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·  Confiance marché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537960"/>
            <a:ext cx="10881360" cy="1905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Tairo ampio  ·  Confidentiel investisseurs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83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9494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État actuel &amp;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Priorité claire : brancher le rail de paiement réel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949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394960" cy="50292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AUJOURD'HUI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✓  Marketplace 2 faces opérationnelle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Calibri"/>
              </a:rPr>
              <a:t>✓  Workflow escrow complet (logique)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Calibri"/>
              </a:rPr>
              <a:t>✓  KYC + admin + factures PDF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Calibri"/>
              </a:rPr>
              <a:t>✓  Messagerie temps réel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Calibri"/>
              </a:rPr>
              <a:t>✓  Abonnements &amp; spotlight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3949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920240"/>
            <a:ext cx="5394960" cy="502920"/>
          </a:xfrm>
          <a:prstGeom prst="rect">
            <a:avLst/>
          </a:prstGeom>
          <a:solidFill>
            <a:srgbClr val="FAD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5176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9494"/>
                </a:solidFill>
                <a:latin typeface="Calibri"/>
              </a:rPr>
              <a:t>→  #1  API Mobile Money (capture + payout)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Calibri"/>
              </a:rPr>
              <a:t>→  Versements auto prestataires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Calibri"/>
              </a:rPr>
              <a:t>→  Object storage (S3 / R2)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Calibri"/>
              </a:rPr>
              <a:t>→  Scale multi-instances + Redis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Calibri"/>
              </a:rPr>
              <a:t>→  Acquisition &amp; métriques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537960"/>
            <a:ext cx="10881360" cy="1905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Tairo ampio  ·  Confidentiel investisseurs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83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4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Passons à l'intégration</a:t>
            </a:r>
          </a:p>
          <a:p>
            <a:pPr algn="l">
              <a:spcBef>
                <a:spcPts val="400"/>
              </a:spcBef>
            </a:pPr>
            <a:r>
              <a:rPr sz="3600" b="1">
                <a:solidFill>
                  <a:srgbClr val="FAD0C9"/>
                </a:solidFill>
                <a:latin typeface="Calibri"/>
              </a:rPr>
              <a:t>Mobile Money.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MVP prêt. Rail de paiement = levier de scale.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FAD0C9"/>
                </a:solidFill>
                <a:latin typeface="Calibri"/>
              </a:rPr>
              <a:t>Discutons investissement, partenariats MM et go-to-market.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663440"/>
            <a:ext cx="38404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7731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69494"/>
                </a:solidFill>
                <a:latin typeface="Calibri"/>
              </a:rPr>
              <a:t>Parlons-en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AD0C9"/>
                </a:solidFill>
                <a:latin typeface="Calibri"/>
              </a:rPr>
              <a:t>Tairo ampio  ·  TairoTairo  ·  Madagascar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080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AD0C9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968</Words>
  <Application>Microsoft Macintosh PowerPoint</Application>
  <PresentationFormat>Grand écran</PresentationFormat>
  <Paragraphs>275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2026-07-10T05:56:49Z</dcterms:modified>
  <cp:category/>
</cp:coreProperties>
</file>